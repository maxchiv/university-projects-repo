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71" r:id="rId2"/>
    <p:sldId id="407" r:id="rId3"/>
    <p:sldId id="413" r:id="rId4"/>
    <p:sldId id="409" r:id="rId5"/>
    <p:sldId id="408" r:id="rId6"/>
    <p:sldId id="418" r:id="rId7"/>
    <p:sldId id="415" r:id="rId8"/>
    <p:sldId id="410" r:id="rId9"/>
    <p:sldId id="411" r:id="rId10"/>
    <p:sldId id="417" r:id="rId11"/>
    <p:sldId id="414" r:id="rId12"/>
    <p:sldId id="416" r:id="rId13"/>
    <p:sldId id="412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42"/>
    <p:restoredTop sz="94632"/>
  </p:normalViewPr>
  <p:slideViewPr>
    <p:cSldViewPr snapToGrid="0" snapToObjects="1">
      <p:cViewPr varScale="1">
        <p:scale>
          <a:sx n="102" d="100"/>
          <a:sy n="102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7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7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1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7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3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7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7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3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0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0518F-775B-CB42-965D-3717A02FC24A}" type="datetimeFigureOut">
              <a:rPr lang="en-US" smtClean="0"/>
              <a:t>5/26/25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7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41967"/>
                <a:ext cx="9321800" cy="6263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7.3  Fourier series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integrable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be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-periodic, i.e.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ctr"/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can approximate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the partial sums </a:t>
                </a:r>
              </a:p>
              <a:p>
                <a:endParaRPr lang="en-AU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given by for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ℕ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         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since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integrable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unc>
                      <m:func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𝑘𝑥</m:t>
                            </m:r>
                          </m:e>
                        </m:d>
                      </m:e>
                    </m:func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unc>
                      <m:func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1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𝑘𝑥</m:t>
                            </m:r>
                          </m:e>
                        </m:d>
                      </m:e>
                    </m:func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integrable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defined.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41967"/>
                <a:ext cx="9321800" cy="6263894"/>
              </a:xfrm>
              <a:prstGeom prst="rect">
                <a:avLst/>
              </a:prstGeom>
              <a:blipFill>
                <a:blip r:embed="rId2"/>
                <a:stretch>
                  <a:fillRect l="-1226" t="-80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18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265767"/>
                <a:ext cx="9321800" cy="6521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can check that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</m:t>
                    </m:r>
                  </m:oMath>
                </a14:m>
                <a:r>
                  <a:rPr lang="en-AU" sz="2100" b="0" dirty="0">
                    <a:cs typeface="Times New Roman" panose="02020603050405020304" pitchFamily="18" charset="0"/>
                  </a:rPr>
                  <a:t>    and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1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𝑘𝑥</m:t>
                            </m:r>
                          </m:e>
                        </m:d>
                      </m:e>
                    </m:func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A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ℕ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 an orthonormal basis with respect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-inner product </a:t>
                </a:r>
              </a:p>
              <a:p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is,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,ℓ∈</m:t>
                    </m:r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    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≠ℓ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265767"/>
                <a:ext cx="9321800" cy="6521657"/>
              </a:xfrm>
              <a:prstGeom prst="rect">
                <a:avLst/>
              </a:prstGeom>
              <a:blipFill>
                <a:blip r:embed="rId2"/>
                <a:stretch>
                  <a:fillRect l="-817" t="-584" b="-27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13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41967"/>
                <a:ext cx="9321800" cy="2251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partial sums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-projection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onto the span of </a:t>
                </a:r>
                <a14:m>
                  <m:oMath xmlns:m="http://schemas.openxmlformats.org/officeDocument/2006/math">
                    <m:r>
                      <a:rPr lang="en-A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func>
                      <m:func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𝑘𝑥</m:t>
                            </m:r>
                          </m:e>
                        </m:d>
                      </m:e>
                    </m:func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AU" sz="2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=1,2,…,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41967"/>
                <a:ext cx="9321800" cy="2251770"/>
              </a:xfrm>
              <a:prstGeom prst="rect">
                <a:avLst/>
              </a:prstGeom>
              <a:blipFill>
                <a:blip r:embed="rId2"/>
                <a:stretch>
                  <a:fillRect l="-817" t="-24022" b="-32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01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2250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integrable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be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-periodic.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as computed on the prior slides.  We refer to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</a:t>
                </a:r>
                <a:r>
                  <a:rPr lang="en-AU" sz="21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series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2250681"/>
              </a:xfrm>
              <a:prstGeom prst="rect">
                <a:avLst/>
              </a:prstGeom>
              <a:blipFill>
                <a:blip r:embed="rId2"/>
                <a:stretch>
                  <a:fillRect l="-817" t="-10674" b="-47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642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US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1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Fourier series of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738664"/>
              </a:xfrm>
              <a:prstGeom prst="rect">
                <a:avLst/>
              </a:prstGeom>
              <a:blipFill>
                <a:blip r:embed="rId2"/>
                <a:stretch>
                  <a:fillRect l="-817" t="-5085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82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3104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Fourier series of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f is odd, </a:t>
                </a:r>
                <a:r>
                  <a:rPr lang="en-A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a_n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sSubSup>
                        <m:sSubSupPr>
                          <m:ctrlPr>
                            <a:rPr lang="en-US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sSubSup>
                        <m:sSubSupPr>
                          <m:ctrlPr>
                            <a:rPr lang="en-US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o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fName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bSup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3104183"/>
              </a:xfrm>
              <a:prstGeom prst="rect">
                <a:avLst/>
              </a:prstGeom>
              <a:blipFill>
                <a:blip r:embed="rId2"/>
                <a:stretch>
                  <a:fillRect l="-817" t="-1224" b="-37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4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6743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Fourier series of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AU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odd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𝑘𝑥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compute 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2514600" algn="l"/>
                  </a:tabLst>
                </a:pPr>
                <a:r>
                  <a:rPr lang="en-US" sz="21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⁡(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𝑘𝑥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bSup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2451100" algn="l"/>
                  </a:tabLs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𝑘𝑥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func>
                              <m:func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𝑘𝑥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d>
                      </m:e>
                      <m:sub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100" dirty="0"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1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the Fourier series of </a:t>
                </a:r>
                <a14:m>
                  <m:oMath xmlns:m="http://schemas.openxmlformats.org/officeDocument/2006/math">
                    <m:r>
                      <a:rPr lang="en-AU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6743962"/>
              </a:xfrm>
              <a:prstGeom prst="rect">
                <a:avLst/>
              </a:prstGeom>
              <a:blipFill>
                <a:blip r:embed="rId2"/>
                <a:stretch>
                  <a:fillRect l="-817" t="-565" b="-20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9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5779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bounded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be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-periodic.</a:t>
                </a: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piece-wise continuous, piece-wise monotone, i.e. there is a partition </a:t>
                </a: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continuous and monotone on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at each point of discontinuity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AU" sz="21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the Fourier series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converges to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pointwise for each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 that </a:t>
                </a:r>
              </a:p>
              <a:p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𝑘𝑥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21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5779596"/>
              </a:xfrm>
              <a:prstGeom prst="rect">
                <a:avLst/>
              </a:prstGeom>
              <a:blipFill>
                <a:blip r:embed="rId2"/>
                <a:stretch>
                  <a:fillRect l="-817" t="-658" r="-954" b="-26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46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1927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∈(−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limit of its Fourier series</a:t>
                </a:r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AU" sz="2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1927515"/>
              </a:xfrm>
              <a:prstGeom prst="rect">
                <a:avLst/>
              </a:prstGeom>
              <a:blipFill>
                <a:blip r:embed="rId2"/>
                <a:stretch>
                  <a:fillRect l="-817" t="-4605" b="-8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4A24D2B-11D5-41A0-2F24-20946468D683}"/>
              </a:ext>
            </a:extLst>
          </p:cNvPr>
          <p:cNvCxnSpPr>
            <a:cxnSpLocks/>
          </p:cNvCxnSpPr>
          <p:nvPr/>
        </p:nvCxnSpPr>
        <p:spPr>
          <a:xfrm flipV="1">
            <a:off x="3048000" y="3759200"/>
            <a:ext cx="0" cy="28956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986BE4B-AA73-B68E-54F3-6AB47AFE668F}"/>
              </a:ext>
            </a:extLst>
          </p:cNvPr>
          <p:cNvCxnSpPr>
            <a:cxnSpLocks/>
          </p:cNvCxnSpPr>
          <p:nvPr/>
        </p:nvCxnSpPr>
        <p:spPr>
          <a:xfrm>
            <a:off x="396014" y="5309491"/>
            <a:ext cx="5560286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B03EA-8E7A-0A6D-B5C2-36F4ADC2F555}"/>
                  </a:ext>
                </a:extLst>
              </p:cNvPr>
              <p:cNvSpPr txBox="1"/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23510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9B03EA-8E7A-0A6D-B5C2-36F4ADC2F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01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1942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∈[−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Use the Fourier series 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1942904"/>
              </a:xfrm>
              <a:prstGeom prst="rect">
                <a:avLst/>
              </a:prstGeom>
              <a:blipFill>
                <a:blip r:embed="rId2"/>
                <a:stretch>
                  <a:fillRect l="-817" t="-3896" r="-817" b="-7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70FF305-5FFA-C0DD-2F7E-FB720734EDBC}"/>
              </a:ext>
            </a:extLst>
          </p:cNvPr>
          <p:cNvCxnSpPr>
            <a:cxnSpLocks/>
          </p:cNvCxnSpPr>
          <p:nvPr/>
        </p:nvCxnSpPr>
        <p:spPr>
          <a:xfrm flipV="1">
            <a:off x="3048000" y="3759200"/>
            <a:ext cx="0" cy="28956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BC5533-9F17-5DEA-234F-E09E47B80B5D}"/>
              </a:ext>
            </a:extLst>
          </p:cNvPr>
          <p:cNvCxnSpPr>
            <a:cxnSpLocks/>
          </p:cNvCxnSpPr>
          <p:nvPr/>
        </p:nvCxnSpPr>
        <p:spPr>
          <a:xfrm>
            <a:off x="396014" y="5309491"/>
            <a:ext cx="5560286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F5BA0-A913-E666-081E-FA2964886246}"/>
                  </a:ext>
                </a:extLst>
              </p:cNvPr>
              <p:cNvSpPr txBox="1"/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23510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F5BA0-A913-E666-081E-FA2964886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82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3470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∈[−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Use the Fourier series 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Exercise:  Show that the Fourier series of </a:t>
                </a:r>
                <a14:m>
                  <m:oMath xmlns:m="http://schemas.openxmlformats.org/officeDocument/2006/math">
                    <m:r>
                      <a:rPr lang="en-AU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3470309"/>
              </a:xfrm>
              <a:prstGeom prst="rect">
                <a:avLst/>
              </a:prstGeom>
              <a:blipFill>
                <a:blip r:embed="rId2"/>
                <a:stretch>
                  <a:fillRect l="-817" t="-2190" r="-817" b="-44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70FF305-5FFA-C0DD-2F7E-FB720734EDBC}"/>
              </a:ext>
            </a:extLst>
          </p:cNvPr>
          <p:cNvCxnSpPr>
            <a:cxnSpLocks/>
          </p:cNvCxnSpPr>
          <p:nvPr/>
        </p:nvCxnSpPr>
        <p:spPr>
          <a:xfrm flipV="1">
            <a:off x="3048000" y="3759200"/>
            <a:ext cx="0" cy="28956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BC5533-9F17-5DEA-234F-E09E47B80B5D}"/>
              </a:ext>
            </a:extLst>
          </p:cNvPr>
          <p:cNvCxnSpPr>
            <a:cxnSpLocks/>
          </p:cNvCxnSpPr>
          <p:nvPr/>
        </p:nvCxnSpPr>
        <p:spPr>
          <a:xfrm>
            <a:off x="396014" y="5309491"/>
            <a:ext cx="5560286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F5BA0-A913-E666-081E-FA2964886246}"/>
                  </a:ext>
                </a:extLst>
              </p:cNvPr>
              <p:cNvSpPr txBox="1"/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23510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F5BA0-A913-E666-081E-FA2964886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1" y="5309491"/>
                <a:ext cx="68117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98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321800" cy="4530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-periodic function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∈[−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Use the Fourier series 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Fourier coefficients of </a:t>
                </a:r>
                <a14:m>
                  <m:oMath xmlns:m="http://schemas.openxmlformats.org/officeDocument/2006/math">
                    <m:r>
                      <a:rPr lang="en-AU" sz="21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tabLst>
                    <a:tab pos="2108200" algn="l"/>
                  </a:tabLst>
                </a:pP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𝑘𝑥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 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321800" cy="4530215"/>
              </a:xfrm>
              <a:prstGeom prst="rect">
                <a:avLst/>
              </a:prstGeom>
              <a:blipFill>
                <a:blip r:embed="rId2"/>
                <a:stretch>
                  <a:fillRect l="-817" t="-1681" r="-817" b="-29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97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829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8423</TotalTime>
  <Words>732</Words>
  <Application>Microsoft Macintosh PowerPoint</Application>
  <PresentationFormat>A4 Paper (210x297 mm)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Krummel</dc:creator>
  <cp:lastModifiedBy>Brian J Krummel</cp:lastModifiedBy>
  <cp:revision>73</cp:revision>
  <cp:lastPrinted>2023-05-23T09:34:16Z</cp:lastPrinted>
  <dcterms:created xsi:type="dcterms:W3CDTF">2023-02-15T01:01:31Z</dcterms:created>
  <dcterms:modified xsi:type="dcterms:W3CDTF">2025-05-26T04:39:57Z</dcterms:modified>
</cp:coreProperties>
</file>