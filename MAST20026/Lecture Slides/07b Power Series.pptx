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336" r:id="rId2"/>
    <p:sldId id="371" r:id="rId3"/>
    <p:sldId id="374" r:id="rId4"/>
    <p:sldId id="373" r:id="rId5"/>
    <p:sldId id="389" r:id="rId6"/>
    <p:sldId id="390" r:id="rId7"/>
    <p:sldId id="375" r:id="rId8"/>
    <p:sldId id="393" r:id="rId9"/>
    <p:sldId id="405" r:id="rId10"/>
    <p:sldId id="395" r:id="rId11"/>
    <p:sldId id="394" r:id="rId12"/>
    <p:sldId id="402" r:id="rId13"/>
    <p:sldId id="403" r:id="rId14"/>
    <p:sldId id="397" r:id="rId15"/>
    <p:sldId id="398" r:id="rId16"/>
    <p:sldId id="407" r:id="rId17"/>
    <p:sldId id="408" r:id="rId18"/>
    <p:sldId id="406" r:id="rId19"/>
    <p:sldId id="404" r:id="rId20"/>
    <p:sldId id="400" r:id="rId21"/>
    <p:sldId id="345" r:id="rId2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CD8D28-CD68-934D-A316-D6A11981354C}" v="2" dt="2023-09-26T06:36:19.2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59"/>
    <p:restoredTop sz="94548"/>
  </p:normalViewPr>
  <p:slideViewPr>
    <p:cSldViewPr snapToGrid="0" snapToObjects="1">
      <p:cViewPr varScale="1">
        <p:scale>
          <a:sx n="100" d="100"/>
          <a:sy n="100" d="100"/>
        </p:scale>
        <p:origin x="7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Haesemeyer" userId="42110d753b26c481" providerId="LiveId" clId="{E4CD8D28-CD68-934D-A316-D6A11981354C}"/>
    <pc:docChg chg="addSld delSld modSld">
      <pc:chgData name="Christian Haesemeyer" userId="42110d753b26c481" providerId="LiveId" clId="{E4CD8D28-CD68-934D-A316-D6A11981354C}" dt="2023-09-26T06:37:47.533" v="6" actId="2696"/>
      <pc:docMkLst>
        <pc:docMk/>
      </pc:docMkLst>
      <pc:sldChg chg="del">
        <pc:chgData name="Christian Haesemeyer" userId="42110d753b26c481" providerId="LiveId" clId="{E4CD8D28-CD68-934D-A316-D6A11981354C}" dt="2023-09-26T06:31:30.873" v="2" actId="2696"/>
        <pc:sldMkLst>
          <pc:docMk/>
          <pc:sldMk cId="1019754866" sldId="372"/>
        </pc:sldMkLst>
      </pc:sldChg>
      <pc:sldChg chg="del">
        <pc:chgData name="Christian Haesemeyer" userId="42110d753b26c481" providerId="LiveId" clId="{E4CD8D28-CD68-934D-A316-D6A11981354C}" dt="2023-09-26T06:30:15.297" v="0" actId="2696"/>
        <pc:sldMkLst>
          <pc:docMk/>
          <pc:sldMk cId="2518146603" sldId="373"/>
        </pc:sldMkLst>
      </pc:sldChg>
      <pc:sldChg chg="add">
        <pc:chgData name="Christian Haesemeyer" userId="42110d753b26c481" providerId="LiveId" clId="{E4CD8D28-CD68-934D-A316-D6A11981354C}" dt="2023-09-26T06:30:25.718" v="1"/>
        <pc:sldMkLst>
          <pc:docMk/>
          <pc:sldMk cId="4142622726" sldId="373"/>
        </pc:sldMkLst>
      </pc:sldChg>
      <pc:sldChg chg="del">
        <pc:chgData name="Christian Haesemeyer" userId="42110d753b26c481" providerId="LiveId" clId="{E4CD8D28-CD68-934D-A316-D6A11981354C}" dt="2023-09-26T06:34:35.390" v="4" actId="2696"/>
        <pc:sldMkLst>
          <pc:docMk/>
          <pc:sldMk cId="2498174861" sldId="396"/>
        </pc:sldMkLst>
      </pc:sldChg>
      <pc:sldChg chg="del">
        <pc:chgData name="Christian Haesemeyer" userId="42110d753b26c481" providerId="LiveId" clId="{E4CD8D28-CD68-934D-A316-D6A11981354C}" dt="2023-09-26T06:33:23.317" v="3" actId="2696"/>
        <pc:sldMkLst>
          <pc:docMk/>
          <pc:sldMk cId="2842141023" sldId="401"/>
        </pc:sldMkLst>
      </pc:sldChg>
      <pc:sldChg chg="modSp">
        <pc:chgData name="Christian Haesemeyer" userId="42110d753b26c481" providerId="LiveId" clId="{E4CD8D28-CD68-934D-A316-D6A11981354C}" dt="2023-09-26T06:36:19.206" v="5" actId="16959"/>
        <pc:sldMkLst>
          <pc:docMk/>
          <pc:sldMk cId="3719461548" sldId="406"/>
        </pc:sldMkLst>
        <pc:spChg chg="mod">
          <ac:chgData name="Christian Haesemeyer" userId="42110d753b26c481" providerId="LiveId" clId="{E4CD8D28-CD68-934D-A316-D6A11981354C}" dt="2023-09-26T06:36:19.206" v="5" actId="16959"/>
          <ac:spMkLst>
            <pc:docMk/>
            <pc:sldMk cId="3719461548" sldId="406"/>
            <ac:spMk id="3" creationId="{F37F01FB-92C9-E124-02AC-A2957223DA6A}"/>
          </ac:spMkLst>
        </pc:spChg>
      </pc:sldChg>
      <pc:sldChg chg="del">
        <pc:chgData name="Christian Haesemeyer" userId="42110d753b26c481" providerId="LiveId" clId="{E4CD8D28-CD68-934D-A316-D6A11981354C}" dt="2023-09-26T06:37:47.533" v="6" actId="2696"/>
        <pc:sldMkLst>
          <pc:docMk/>
          <pc:sldMk cId="286391947" sldId="40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0518F-775B-CB42-965D-3717A02FC24A}" type="datetimeFigureOut">
              <a:rPr lang="en-US" smtClean="0"/>
              <a:t>7/11/24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C31D7-BB9F-C346-B363-2CC5E5778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778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0518F-775B-CB42-965D-3717A02FC24A}" type="datetimeFigureOut">
              <a:rPr lang="en-US" smtClean="0"/>
              <a:t>7/11/24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C31D7-BB9F-C346-B363-2CC5E5778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172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0518F-775B-CB42-965D-3717A02FC24A}" type="datetimeFigureOut">
              <a:rPr lang="en-US" smtClean="0"/>
              <a:t>7/11/24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C31D7-BB9F-C346-B363-2CC5E5778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34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0518F-775B-CB42-965D-3717A02FC24A}" type="datetimeFigureOut">
              <a:rPr lang="en-US" smtClean="0"/>
              <a:t>7/11/24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C31D7-BB9F-C346-B363-2CC5E5778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115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0518F-775B-CB42-965D-3717A02FC24A}" type="datetimeFigureOut">
              <a:rPr lang="en-US" smtClean="0"/>
              <a:t>7/11/24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C31D7-BB9F-C346-B363-2CC5E5778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871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0518F-775B-CB42-965D-3717A02FC24A}" type="datetimeFigureOut">
              <a:rPr lang="en-US" smtClean="0"/>
              <a:t>7/11/24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C31D7-BB9F-C346-B363-2CC5E5778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272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0518F-775B-CB42-965D-3717A02FC24A}" type="datetimeFigureOut">
              <a:rPr lang="en-US" smtClean="0"/>
              <a:t>7/11/24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C31D7-BB9F-C346-B363-2CC5E5778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837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0518F-775B-CB42-965D-3717A02FC24A}" type="datetimeFigureOut">
              <a:rPr lang="en-US" smtClean="0"/>
              <a:t>7/11/24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C31D7-BB9F-C346-B363-2CC5E5778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178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0518F-775B-CB42-965D-3717A02FC24A}" type="datetimeFigureOut">
              <a:rPr lang="en-US" smtClean="0"/>
              <a:t>7/11/24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C31D7-BB9F-C346-B363-2CC5E5778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670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0518F-775B-CB42-965D-3717A02FC24A}" type="datetimeFigureOut">
              <a:rPr lang="en-US" smtClean="0"/>
              <a:t>7/11/24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C31D7-BB9F-C346-B363-2CC5E5778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632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0518F-775B-CB42-965D-3717A02FC24A}" type="datetimeFigureOut">
              <a:rPr lang="en-US" smtClean="0"/>
              <a:t>7/11/24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C31D7-BB9F-C346-B363-2CC5E5778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502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0518F-775B-CB42-965D-3717A02FC24A}" type="datetimeFigureOut">
              <a:rPr lang="en-US" smtClean="0"/>
              <a:t>7/11/24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EC31D7-BB9F-C346-B363-2CC5E5778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279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/>
              <p:nvPr/>
            </p:nvSpPr>
            <p:spPr>
              <a:xfrm>
                <a:off x="279400" y="418167"/>
                <a:ext cx="9321800" cy="21586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7.2  Power series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sz="2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Example.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ℝ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≠0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 Consider the following function 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𝐺</m:t>
                      </m:r>
                      <m:d>
                        <m:d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sSup>
                            <m:sSup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𝑎𝑥</m:t>
                      </m:r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p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+⋯</m:t>
                      </m:r>
                    </m:oMath>
                  </m:oMathPara>
                </a14:m>
                <a:endParaRPr lang="en-A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0" y="418167"/>
                <a:ext cx="9321800" cy="2158668"/>
              </a:xfrm>
              <a:prstGeom prst="rect">
                <a:avLst/>
              </a:prstGeom>
              <a:blipFill>
                <a:blip r:embed="rId2"/>
                <a:stretch>
                  <a:fillRect l="-1090" t="-2924" b="-625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1940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/>
              <p:nvPr/>
            </p:nvSpPr>
            <p:spPr>
              <a:xfrm>
                <a:off x="279400" y="418167"/>
                <a:ext cx="9321800" cy="18508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Definition 7.18 and 7.28.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ℝ</m:t>
                    </m:r>
                  </m:oMath>
                </a14:m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 a sequence.  The corresponding </a:t>
                </a:r>
                <a:r>
                  <a:rPr lang="en-AU" sz="2100" i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power series</a:t>
                </a:r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at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given by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sz="2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AU" sz="2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AU" sz="2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AU" sz="2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AU" sz="2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p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+⋯</m:t>
                      </m:r>
                    </m:oMath>
                  </m:oMathPara>
                </a14:m>
                <a:endParaRPr lang="en-A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0" y="418167"/>
                <a:ext cx="9321800" cy="1850891"/>
              </a:xfrm>
              <a:prstGeom prst="rect">
                <a:avLst/>
              </a:prstGeom>
              <a:blipFill>
                <a:blip r:embed="rId2"/>
                <a:stretch>
                  <a:fillRect l="-817" t="-17123" b="-753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2186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/>
              <p:nvPr/>
            </p:nvSpPr>
            <p:spPr>
              <a:xfrm>
                <a:off x="279400" y="418167"/>
                <a:ext cx="9626600" cy="48209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2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Definition 7.19.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⊆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ℝ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 the set of all values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which the power series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sz="2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AU" sz="2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AU" sz="2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AU" sz="2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AU" sz="2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p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+⋯</m:t>
                      </m:r>
                    </m:oMath>
                  </m:oMathPara>
                </a14:m>
                <a:endParaRPr lang="en-AU" sz="21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converges.  We call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AU" sz="2100" i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interval of convergence</a:t>
                </a:r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the power series</a:t>
                </a:r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not bounded, we say the power series has an </a:t>
                </a:r>
                <a:r>
                  <a:rPr lang="en-AU" sz="2100" i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infinite interval of convergence</a:t>
                </a:r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A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A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AU" sz="2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Theorem 7.20.</a:t>
                </a:r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interval of convergence of a power series is one of the following:</a:t>
                </a:r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{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m:rPr>
                        <m:lit/>
                      </m:rP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    </a:t>
                </a:r>
                <a14:m>
                  <m:oMath xmlns:m="http://schemas.openxmlformats.org/officeDocument/2006/math">
                    <m:r>
                      <a:rPr lang="en-AU" sz="21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AU" sz="21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AU" sz="21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AU" sz="21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𝜌</m:t>
                    </m:r>
                    <m:r>
                      <a:rPr lang="en-AU" sz="21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AU" sz="21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AU" sz="21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AU" sz="21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𝜌</m:t>
                    </m:r>
                    <m:r>
                      <a:rPr lang="en-AU" sz="21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    </a:t>
                </a:r>
                <a14:m>
                  <m:oMath xmlns:m="http://schemas.openxmlformats.org/officeDocument/2006/math">
                    <m:r>
                      <a:rPr lang="en-AU" sz="21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AU" sz="21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AU" sz="21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AU" sz="21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𝜌</m:t>
                    </m:r>
                    <m:r>
                      <a:rPr lang="en-AU" sz="21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AU" sz="21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AU" sz="21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AU" sz="21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𝜌</m:t>
                    </m:r>
                    <m:r>
                      <a:rPr lang="en-AU" sz="21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    </a:t>
                </a:r>
                <a14:m>
                  <m:oMath xmlns:m="http://schemas.openxmlformats.org/officeDocument/2006/math">
                    <m:r>
                      <a:rPr lang="en-AU" sz="21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AU" sz="21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AU" sz="21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AU" sz="21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𝜌</m:t>
                    </m:r>
                    <m:r>
                      <a:rPr lang="en-AU" sz="21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AU" sz="21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AU" sz="21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AU" sz="21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𝜌</m:t>
                    </m:r>
                    <m:r>
                      <a:rPr lang="en-AU" sz="21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    </a:t>
                </a:r>
                <a14:m>
                  <m:oMath xmlns:m="http://schemas.openxmlformats.org/officeDocument/2006/math">
                    <m:r>
                      <a:rPr lang="en-AU" sz="21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AU" sz="21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AU" sz="21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AU" sz="21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𝜌</m:t>
                    </m:r>
                    <m:r>
                      <a:rPr lang="en-AU" sz="21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AU" sz="21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AU" sz="21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AU" sz="21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𝜌</m:t>
                    </m:r>
                    <m:r>
                      <a:rPr lang="en-AU" sz="21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    </a:t>
                </a:r>
                <a14:m>
                  <m:oMath xmlns:m="http://schemas.openxmlformats.org/officeDocument/2006/math">
                    <m:r>
                      <a:rPr lang="en-AU" sz="21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ℝ</m:t>
                    </m:r>
                  </m:oMath>
                </a14:m>
                <a:endParaRPr lang="en-A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A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A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refer to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𝜌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 the </a:t>
                </a:r>
                <a:r>
                  <a:rPr lang="en-AU" sz="2100" i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radius of convergence</a:t>
                </a:r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the power series.</a:t>
                </a:r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0" y="418167"/>
                <a:ext cx="9626600" cy="4820935"/>
              </a:xfrm>
              <a:prstGeom prst="rect">
                <a:avLst/>
              </a:prstGeom>
              <a:blipFill>
                <a:blip r:embed="rId2"/>
                <a:stretch>
                  <a:fillRect l="-792" t="-11579" b="-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7951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/>
              <p:nvPr/>
            </p:nvSpPr>
            <p:spPr>
              <a:xfrm>
                <a:off x="279400" y="418167"/>
                <a:ext cx="9321800" cy="15277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Example.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endParaRPr lang="en-A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=1+</m:t>
                      </m:r>
                      <m:f>
                        <m:f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1!</m:t>
                          </m:r>
                        </m:den>
                      </m:f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2!</m:t>
                          </m:r>
                        </m:den>
                      </m:f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3!</m:t>
                          </m:r>
                        </m:den>
                      </m:f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+⋯</m:t>
                      </m:r>
                    </m:oMath>
                  </m:oMathPara>
                </a14:m>
                <a:endParaRPr lang="en-A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0" y="418167"/>
                <a:ext cx="9321800" cy="1527726"/>
              </a:xfrm>
              <a:prstGeom prst="rect">
                <a:avLst/>
              </a:prstGeom>
              <a:blipFill>
                <a:blip r:embed="rId2"/>
                <a:stretch>
                  <a:fillRect l="-817" t="-41322" b="-9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2622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/>
              <p:nvPr/>
            </p:nvSpPr>
            <p:spPr>
              <a:xfrm>
                <a:off x="279400" y="418167"/>
                <a:ext cx="9321800" cy="46293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2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Theorem 7.21.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(Algebra of Power Series Theorem)  </a:t>
                </a:r>
                <a:r>
                  <a:rPr lang="en-US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𝐺</m:t>
                      </m:r>
                      <m:d>
                        <m:d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  </m:t>
                      </m:r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𝑎𝑛𝑑</m:t>
                      </m:r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  </m:t>
                      </m:r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𝐻</m:t>
                      </m:r>
                      <m:d>
                        <m:d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 power series at a point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ℝ</m:t>
                    </m:r>
                  </m:oMath>
                </a14:m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the interval of convergence of </a:t>
                </a:r>
                <a14:m>
                  <m:oMath xmlns:m="http://schemas.openxmlformats.org/officeDocument/2006/math"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the interval of convergence of </a:t>
                </a:r>
                <a14:m>
                  <m:oMath xmlns:m="http://schemas.openxmlformats.org/officeDocument/2006/math"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𝐻</m:t>
                    </m:r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then</a:t>
                </a:r>
              </a:p>
              <a:p>
                <a:pPr>
                  <a:spcAft>
                    <a:spcPts val="1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𝐺</m:t>
                      </m:r>
                      <m:d>
                        <m:d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𝐻</m:t>
                      </m:r>
                      <m:d>
                        <m:d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AU" sz="21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21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(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  </m:t>
                      </m:r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𝑓𝑜𝑟</m:t>
                      </m:r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𝑎𝑙𝑙</m:t>
                      </m:r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</m:sub>
                      </m:sSub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∩</m:t>
                      </m:r>
                      <m:sSub>
                        <m:sSub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sub>
                      </m:sSub>
                    </m:oMath>
                  </m:oMathPara>
                </a14:m>
                <a:endParaRPr lang="en-AU" sz="21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1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𝐺</m:t>
                      </m:r>
                      <m:d>
                        <m:d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  <m: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  </m:t>
                      </m:r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𝑓𝑜𝑟</m:t>
                      </m:r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𝑎𝑙𝑙</m:t>
                      </m:r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AU" sz="2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AU" sz="2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∈</m:t>
                      </m:r>
                      <m:r>
                        <a:rPr lang="en-AU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ℝ</m:t>
                      </m:r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𝑎𝑛𝑑</m:t>
                      </m:r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AU" sz="2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AU" sz="2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</m:sub>
                      </m:sSub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AU" sz="21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0" y="418167"/>
                <a:ext cx="9321800" cy="4629344"/>
              </a:xfrm>
              <a:prstGeom prst="rect">
                <a:avLst/>
              </a:prstGeom>
              <a:blipFill>
                <a:blip r:embed="rId2"/>
                <a:stretch>
                  <a:fillRect l="-817" t="-12055" r="-136" b="-27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1639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/>
              <p:nvPr/>
            </p:nvSpPr>
            <p:spPr>
              <a:xfrm>
                <a:off x="279400" y="418167"/>
                <a:ext cx="9359900" cy="48752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2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Theorems 7.22 and 7.23.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=0</m:t>
                        </m:r>
                      </m:sub>
                      <m:sup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AU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AU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AU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sSup>
                          <m:sSupPr>
                            <m:ctrlPr>
                              <a:rPr lang="en-AU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AU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AU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AU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AU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  <m:r>
                              <a:rPr lang="en-AU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AU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a power series which converges to a function </a:t>
                </a:r>
                <a14:m>
                  <m:oMath xmlns:m="http://schemas.openxmlformats.org/officeDocument/2006/math"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at each point </a:t>
                </a:r>
                <a14:m>
                  <m:oMath xmlns:m="http://schemas.openxmlformats.org/officeDocument/2006/math"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∈(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𝜌</m:t>
                    </m:r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𝜌</m:t>
                    </m:r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differentiable on </a:t>
                </a:r>
                <a14:m>
                  <m:oMath xmlns:m="http://schemas.openxmlformats.org/officeDocument/2006/math"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𝜌</m:t>
                    </m:r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𝜌</m:t>
                    </m:r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for each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∈(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𝜌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𝜌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AU" sz="21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AU" sz="2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nary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A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Moreover, for each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∈(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𝜌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𝜌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AU" sz="21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AU" sz="21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en-AU" sz="2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AU" sz="21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21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AU" sz="21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AU" sz="21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AU" sz="21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  <m: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AU" sz="21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  <m: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+1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den>
                          </m:f>
                        </m:e>
                      </m:nary>
                      <m:r>
                        <a:rPr lang="en-AU" sz="2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0" y="418167"/>
                <a:ext cx="9359900" cy="4875245"/>
              </a:xfrm>
              <a:prstGeom prst="rect">
                <a:avLst/>
              </a:prstGeom>
              <a:blipFill>
                <a:blip r:embed="rId2"/>
                <a:stretch>
                  <a:fillRect l="-814" t="-10417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8054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/>
              <p:nvPr/>
            </p:nvSpPr>
            <p:spPr>
              <a:xfrm>
                <a:off x="279400" y="418167"/>
                <a:ext cx="9626600" cy="16043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2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Example.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AU" sz="21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AU" sz="21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  <m: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nary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=1−</m:t>
                      </m:r>
                      <m:f>
                        <m:f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+⋯</m:t>
                      </m:r>
                    </m:oMath>
                  </m:oMathPara>
                </a14:m>
                <a:endParaRPr lang="en-AU" sz="21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0" y="418167"/>
                <a:ext cx="9626600" cy="1604350"/>
              </a:xfrm>
              <a:prstGeom prst="rect">
                <a:avLst/>
              </a:prstGeom>
              <a:blipFill>
                <a:blip r:embed="rId2"/>
                <a:stretch>
                  <a:fillRect l="-792" t="-34646" b="-866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7912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/>
              <p:nvPr/>
            </p:nvSpPr>
            <p:spPr>
              <a:xfrm>
                <a:off x="279400" y="316567"/>
                <a:ext cx="9321800" cy="4243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a function which is at least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-times differentiable at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 Consider the polynomial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AU" sz="2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AU" sz="21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21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AU" sz="21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AU" sz="21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!</m:t>
                              </m:r>
                            </m:den>
                          </m:f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AU" sz="21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21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en-AU" sz="21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AU" sz="21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e>
                            <m:sup>
                              <m: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  <m:oMath xmlns:m="http://schemas.openxmlformats.org/officeDocument/2006/math">
                      <m:r>
                        <a:rPr lang="en-AU" sz="2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AU" sz="2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AU" sz="2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AU" sz="2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d>
                        <m:dPr>
                          <m:ctrlP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AU" sz="2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′′(</m:t>
                          </m:r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2!</m:t>
                          </m:r>
                        </m:den>
                      </m:f>
                      <m:sSup>
                        <m:sSupPr>
                          <m:ctrlP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  <m:sup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+⋯+</m:t>
                      </m:r>
                      <m:f>
                        <m:fPr>
                          <m:ctrlP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  <m:sup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AU" sz="21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p>
                        <m:d>
                          <m:dPr>
                            <m:ctrlPr>
                              <a:rPr lang="en-AU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AU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en-AU" sz="21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denotes the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AU" sz="21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-times derivative of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n-AU" sz="21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 We call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sub>
                    </m:sSub>
                    <m:d>
                      <m:dPr>
                        <m:ctrlP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AU" sz="21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order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AU" sz="21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AU" sz="2100" b="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Taylor</a:t>
                </a:r>
                <a:r>
                  <a:rPr lang="en-AU" sz="21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AU" sz="2100" b="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polynomial</a:t>
                </a:r>
                <a:r>
                  <a:rPr lang="en-AU" sz="21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n-AU" sz="21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at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AU" sz="21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AU" sz="21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A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AU" sz="21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AU" sz="21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we often write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AU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AU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AU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ctrlPr>
                              <a:rPr lang="en-AU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AU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,0</m:t>
                        </m:r>
                      </m:sub>
                    </m:sSub>
                    <m:d>
                      <m:dPr>
                        <m:ctrlP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AU" sz="21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0" y="316567"/>
                <a:ext cx="9321800" cy="4243662"/>
              </a:xfrm>
              <a:prstGeom prst="rect">
                <a:avLst/>
              </a:prstGeom>
              <a:blipFill>
                <a:blip r:embed="rId2"/>
                <a:stretch>
                  <a:fillRect l="-817" t="-5357" b="-1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6168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/>
              <p:nvPr/>
            </p:nvSpPr>
            <p:spPr>
              <a:xfrm>
                <a:off x="279400" y="316567"/>
                <a:ext cx="9321800" cy="9067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1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By construction, the first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AU" sz="21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derivatives </a:t>
                </a:r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</a:t>
                </a:r>
                <a14:m>
                  <m:oMath xmlns:m="http://schemas.openxmlformats.org/officeDocument/2006/math"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sub>
                    </m:sSub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</a:t>
                </a:r>
                <a:r>
                  <a:rPr lang="en-AU" sz="21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gree at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AU" sz="21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spcAft>
                    <a:spcPts val="1200"/>
                  </a:spcAft>
                </a:pPr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see this, suppose for simplicity that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0" y="316567"/>
                <a:ext cx="9321800" cy="906787"/>
              </a:xfrm>
              <a:prstGeom prst="rect">
                <a:avLst/>
              </a:prstGeom>
              <a:blipFill>
                <a:blip r:embed="rId2"/>
                <a:stretch>
                  <a:fillRect l="-817" t="-2740" b="-123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7548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/>
              <p:nvPr/>
            </p:nvSpPr>
            <p:spPr>
              <a:xfrm>
                <a:off x="279400" y="316567"/>
                <a:ext cx="9321800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Example.</a:t>
                </a:r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Find the Taylor polynomials of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at </a:t>
                </a:r>
                <a14:m>
                  <m:oMath xmlns:m="http://schemas.openxmlformats.org/officeDocument/2006/math"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AU" sz="21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0" y="316567"/>
                <a:ext cx="9321800" cy="415498"/>
              </a:xfrm>
              <a:prstGeom prst="rect">
                <a:avLst/>
              </a:prstGeom>
              <a:blipFill>
                <a:blip r:embed="rId2"/>
                <a:stretch>
                  <a:fillRect l="-817" t="-5882" b="-2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662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/>
              <p:nvPr/>
            </p:nvSpPr>
            <p:spPr>
              <a:xfrm>
                <a:off x="279400" y="316567"/>
                <a:ext cx="9321800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Example.</a:t>
                </a:r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Find the order 3 Taylor polynomials of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AU" sz="21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sin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⁡(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at </a:t>
                </a:r>
                <a14:m>
                  <m:oMath xmlns:m="http://schemas.openxmlformats.org/officeDocument/2006/math"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AU" sz="21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0" y="316567"/>
                <a:ext cx="9321800" cy="415498"/>
              </a:xfrm>
              <a:prstGeom prst="rect">
                <a:avLst/>
              </a:prstGeom>
              <a:blipFill>
                <a:blip r:embed="rId2"/>
                <a:stretch>
                  <a:fillRect l="-817" t="-5882" b="-2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7108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/>
              <p:nvPr/>
            </p:nvSpPr>
            <p:spPr>
              <a:xfrm>
                <a:off x="279400" y="316567"/>
                <a:ext cx="9321800" cy="24420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Definition 7.24 and 7.29.</a:t>
                </a:r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⊆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ℝ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 an open interval and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ℝ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 infinitely differentiable at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i.e. the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-times derivative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p>
                        <m:d>
                          <m:dPr>
                            <m:ctrlPr>
                              <a:rPr lang="en-AU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AU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exists at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all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ℕ</m:t>
                    </m:r>
                  </m:oMath>
                </a14:m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 We refer to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AU" sz="21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AU" sz="21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</m:sup>
                              </m:sSup>
                              <m:d>
                                <m:dPr>
                                  <m:ctrlP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!</m:t>
                              </m:r>
                            </m:den>
                          </m:f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AU" sz="21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AU" sz="2100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 the </a:t>
                </a:r>
                <a:r>
                  <a:rPr lang="en-AU" sz="2100" b="0" i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Taylor series</a:t>
                </a:r>
                <a:r>
                  <a:rPr lang="en-AU" sz="2100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n-AU" sz="21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AU" sz="2100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</a:t>
                </a:r>
                <a:r>
                  <a:rPr lang="en-AU" sz="21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AU" sz="21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0" y="316567"/>
                <a:ext cx="9321800" cy="2442079"/>
              </a:xfrm>
              <a:prstGeom prst="rect">
                <a:avLst/>
              </a:prstGeom>
              <a:blipFill>
                <a:blip r:embed="rId2"/>
                <a:stretch>
                  <a:fillRect l="-817" t="-1546" r="-954" b="-43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1824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/>
              <p:nvPr/>
            </p:nvSpPr>
            <p:spPr>
              <a:xfrm>
                <a:off x="279400" y="316567"/>
                <a:ext cx="9321800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Example.</a:t>
                </a:r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Find the Taylor series of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AU" sz="21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at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AU" sz="21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0" y="316567"/>
                <a:ext cx="9321800" cy="415498"/>
              </a:xfrm>
              <a:prstGeom prst="rect">
                <a:avLst/>
              </a:prstGeom>
              <a:blipFill>
                <a:blip r:embed="rId2"/>
                <a:stretch>
                  <a:fillRect l="-817" t="-5882" b="-2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5399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/>
              <p:nvPr/>
            </p:nvSpPr>
            <p:spPr>
              <a:xfrm>
                <a:off x="279400" y="316567"/>
                <a:ext cx="9321800" cy="57983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every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ℕ</m:t>
                    </m:r>
                  </m:oMath>
                </a14:m>
                <a:r>
                  <a:rPr lang="en-AU" sz="21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sub>
                    </m:sSub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AU" sz="21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will approximate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AU" sz="21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near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AU" sz="21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 For any particular value of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AU" sz="21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 error in this approximation is given by 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sub>
                          </m:sSub>
                          <m:d>
                            <m:d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d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AU" sz="21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AU" sz="21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Ideally, as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AU" sz="21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gets large the approximation improves and this error term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→0</m:t>
                    </m:r>
                  </m:oMath>
                </a14:m>
                <a:r>
                  <a:rPr lang="en-AU" sz="21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 In other words, for every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𝜖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&gt;0</m:t>
                    </m:r>
                  </m:oMath>
                </a14:m>
                <a:r>
                  <a:rPr lang="en-AU" sz="21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there exists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ℕ</m:t>
                    </m:r>
                  </m:oMath>
                </a14:m>
                <a:r>
                  <a:rPr lang="en-AU" sz="21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such that if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lang="en-AU" sz="21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then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sub>
                          </m:sSub>
                          <m:d>
                            <m:d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&lt;</m:t>
                      </m:r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𝜖</m:t>
                      </m:r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AU" sz="21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AU" sz="21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:endParaRPr lang="en-AU" sz="21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AU" sz="2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Theorem 7.25 and 7.30.</a:t>
                </a:r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(Taylor’s Theorem)  </a:t>
                </a:r>
              </a:p>
              <a:p>
                <a:pPr>
                  <a:spcAft>
                    <a:spcPts val="600"/>
                  </a:spcAft>
                </a:pPr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ℕ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𝐼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ℝ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such that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p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p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′′</m:t>
                        </m:r>
                      </m:sup>
                    </m:sSup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sSup>
                      <m:sSupPr>
                        <m:ctrlP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p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+1)</m:t>
                        </m:r>
                      </m:sup>
                    </m:sSup>
                  </m:oMath>
                </a14:m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defined at each point in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𝐼</m:t>
                    </m:r>
                  </m:oMath>
                </a14:m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 </a:t>
                </a:r>
              </a:p>
              <a:p>
                <a:pPr>
                  <a:spcAft>
                    <a:spcPts val="1200"/>
                  </a:spcAft>
                </a:pPr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every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𝐼</m:t>
                    </m:r>
                  </m:oMath>
                </a14:m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there exists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between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such that 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  <m: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+1</m:t>
                                  </m:r>
                                </m:e>
                              </m:d>
                            </m:sup>
                          </m:sSup>
                          <m:d>
                            <m:d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!</m:t>
                          </m:r>
                        </m:den>
                      </m:f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AU" sz="21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AU" sz="21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0" y="316567"/>
                <a:ext cx="9321800" cy="5798382"/>
              </a:xfrm>
              <a:prstGeom prst="rect">
                <a:avLst/>
              </a:prstGeom>
              <a:blipFill>
                <a:blip r:embed="rId2"/>
                <a:stretch>
                  <a:fillRect l="-817" t="-437" r="-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07437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/>
              <p:nvPr/>
            </p:nvSpPr>
            <p:spPr>
              <a:xfrm>
                <a:off x="279400" y="316567"/>
                <a:ext cx="9321800" cy="1927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7.26.</a:t>
                </a:r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Prove that 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!</m:t>
                              </m:r>
                            </m:den>
                          </m:f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=1+</m:t>
                          </m:r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2!</m:t>
                              </m:r>
                            </m:den>
                          </m:f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AU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3!</m:t>
                              </m:r>
                            </m:den>
                          </m:f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+⋯</m:t>
                          </m:r>
                        </m:e>
                      </m:nary>
                    </m:oMath>
                  </m:oMathPara>
                </a14:m>
                <a:endParaRPr lang="en-AU" sz="21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all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ℝ</m:t>
                    </m:r>
                  </m:oMath>
                </a14:m>
                <a:r>
                  <a:rPr lang="en-AU" sz="21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0" y="316567"/>
                <a:ext cx="9321800" cy="1927835"/>
              </a:xfrm>
              <a:prstGeom prst="rect">
                <a:avLst/>
              </a:prstGeom>
              <a:blipFill>
                <a:blip r:embed="rId2"/>
                <a:stretch>
                  <a:fillRect l="-817" t="-28105" b="-5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1250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0965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50712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/>
              <p:nvPr/>
            </p:nvSpPr>
            <p:spPr>
              <a:xfrm>
                <a:off x="279400" y="303867"/>
                <a:ext cx="9296400" cy="15210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Example.</a:t>
                </a:r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Consider the function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ℝ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ℝ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defined by </a:t>
                </a:r>
              </a:p>
              <a:p>
                <a:pPr algn="ctr">
                  <a:spcAft>
                    <a:spcPts val="1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AU" sz="21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AU" sz="21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AU" sz="21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AU" sz="21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1/</m:t>
                                    </m:r>
                                    <m:r>
                                      <a:rPr lang="en-AU" sz="21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AU" sz="2100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a:rPr lang="en-AU" sz="2100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n-AU" sz="21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AU" sz="21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&gt;0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21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AU" sz="2100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a:rPr lang="en-AU" sz="2100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n-AU" sz="21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AU" sz="2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≤</m:t>
                                </m:r>
                                <m:r>
                                  <a:rPr lang="en-AU" sz="21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0" y="303867"/>
                <a:ext cx="9296400" cy="1521057"/>
              </a:xfrm>
              <a:prstGeom prst="rect">
                <a:avLst/>
              </a:prstGeom>
              <a:blipFill>
                <a:blip r:embed="rId2"/>
                <a:stretch>
                  <a:fillRect l="-819" t="-74167" b="-135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DF8C65F6-73C8-CE02-7C56-A075E9FACC5E}"/>
              </a:ext>
            </a:extLst>
          </p:cNvPr>
          <p:cNvCxnSpPr>
            <a:cxnSpLocks/>
          </p:cNvCxnSpPr>
          <p:nvPr/>
        </p:nvCxnSpPr>
        <p:spPr>
          <a:xfrm flipV="1">
            <a:off x="4902200" y="3286465"/>
            <a:ext cx="0" cy="3267668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DE3A1F7-A0B4-D896-A258-46C847B8DFC7}"/>
              </a:ext>
            </a:extLst>
          </p:cNvPr>
          <p:cNvCxnSpPr>
            <a:cxnSpLocks/>
          </p:cNvCxnSpPr>
          <p:nvPr/>
        </p:nvCxnSpPr>
        <p:spPr>
          <a:xfrm>
            <a:off x="1765930" y="6215476"/>
            <a:ext cx="6625274" cy="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0122B6-F4E4-22AD-611C-AAC0CABC6C3E}"/>
                  </a:ext>
                </a:extLst>
              </p:cNvPr>
              <p:cNvSpPr txBox="1"/>
              <p:nvPr/>
            </p:nvSpPr>
            <p:spPr>
              <a:xfrm>
                <a:off x="8050616" y="6215476"/>
                <a:ext cx="681175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  <a:tabLst>
                    <a:tab pos="2351088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0122B6-F4E4-22AD-611C-AAC0CABC6C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0616" y="6215476"/>
                <a:ext cx="681175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94615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/>
              <p:nvPr/>
            </p:nvSpPr>
            <p:spPr>
              <a:xfrm>
                <a:off x="279400" y="316567"/>
                <a:ext cx="9321800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Example.</a:t>
                </a:r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Approximate </a:t>
                </a:r>
                <a14:m>
                  <m:oMath xmlns:m="http://schemas.openxmlformats.org/officeDocument/2006/math"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AU" sz="2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sin</m:t>
                    </m:r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⁡(</m:t>
                    </m:r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by a order 3 Taylor polynomials at </a:t>
                </a:r>
                <a14:m>
                  <m:oMath xmlns:m="http://schemas.openxmlformats.org/officeDocument/2006/math"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AU" sz="21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0" y="316567"/>
                <a:ext cx="9321800" cy="415498"/>
              </a:xfrm>
              <a:prstGeom prst="rect">
                <a:avLst/>
              </a:prstGeom>
              <a:blipFill>
                <a:blip r:embed="rId2"/>
                <a:stretch>
                  <a:fillRect l="-817" t="-5882" b="-2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46982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/>
              <p:nvPr/>
            </p:nvSpPr>
            <p:spPr>
              <a:xfrm>
                <a:off x="279400" y="316567"/>
                <a:ext cx="9321800" cy="2875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AU" sz="2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Theorem 7.27 and 7.31.</a:t>
                </a:r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(Remainder Estimate Theorem)  </a:t>
                </a:r>
              </a:p>
              <a:p>
                <a:pPr>
                  <a:spcAft>
                    <a:spcPts val="600"/>
                  </a:spcAft>
                </a:pPr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ℕ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let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𝐼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ℝ</m:t>
                    </m:r>
                  </m:oMath>
                </a14:m>
                <a:r>
                  <a:rPr lang="en-A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AU" sz="21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s.t.</a:t>
                </a:r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p>
                        <m: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p>
                        <m: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′′</m:t>
                        </m:r>
                      </m:sup>
                    </m:sSup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sSup>
                      <m:sSupPr>
                        <m:ctrlP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p>
                        <m: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AU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+1)</m:t>
                        </m:r>
                      </m:sup>
                    </m:sSup>
                  </m:oMath>
                </a14:m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defined at each point in </a:t>
                </a:r>
                <a14:m>
                  <m:oMath xmlns:m="http://schemas.openxmlformats.org/officeDocument/2006/math">
                    <m:r>
                      <a:rPr lang="en-A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𝐼</m:t>
                    </m:r>
                  </m:oMath>
                </a14:m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 </a:t>
                </a:r>
              </a:p>
              <a:p>
                <a:pPr>
                  <a:spcAft>
                    <a:spcPts val="1200"/>
                  </a:spcAft>
                </a:pPr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𝐼</m:t>
                    </m:r>
                  </m:oMath>
                </a14:m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 If there exists a constant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&gt;0</m:t>
                    </m:r>
                  </m:oMath>
                </a14:m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such that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AU" sz="21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AU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AU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AU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AU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AU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+1)</m:t>
                            </m:r>
                          </m:sup>
                        </m:sSup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A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d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all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between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A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AU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then 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sub>
                          </m:sSub>
                          <m:d>
                            <m:dPr>
                              <m:ctrlP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f>
                        <m:fPr>
                          <m:ctrlP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𝑀</m:t>
                          </m:r>
                        </m:num>
                        <m:den>
                          <m:d>
                            <m:dPr>
                              <m:ctrlP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a:rPr lang="en-AU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AU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  <m:sup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AU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A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AU" sz="21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AU" sz="21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01FB-92C9-E124-02AC-A2957223D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0" y="316567"/>
                <a:ext cx="9321800" cy="2875531"/>
              </a:xfrm>
              <a:prstGeom prst="rect">
                <a:avLst/>
              </a:prstGeom>
              <a:blipFill>
                <a:blip r:embed="rId2"/>
                <a:stretch>
                  <a:fillRect l="-817" t="-877" r="-1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98254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0228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10207</TotalTime>
  <Words>915</Words>
  <Application>Microsoft Macintosh PowerPoint</Application>
  <PresentationFormat>A4 Paper (210x297 mm)</PresentationFormat>
  <Paragraphs>66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Brian Krummel</dc:creator>
  <cp:lastModifiedBy>Brian J Krummel</cp:lastModifiedBy>
  <cp:revision>67</cp:revision>
  <cp:lastPrinted>2023-05-22T09:31:46Z</cp:lastPrinted>
  <dcterms:created xsi:type="dcterms:W3CDTF">2023-02-15T01:01:31Z</dcterms:created>
  <dcterms:modified xsi:type="dcterms:W3CDTF">2024-07-11T07:43:29Z</dcterms:modified>
</cp:coreProperties>
</file>